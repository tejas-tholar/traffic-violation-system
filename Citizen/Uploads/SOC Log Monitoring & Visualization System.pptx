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18.png"/><Relationship Id="rId11" Type="http://schemas.openxmlformats.org/officeDocument/2006/relationships/image" Target="../media/image5.png"/><Relationship Id="rId12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Relationship Id="rId19" Type="http://schemas.openxmlformats.org/officeDocument/2006/relationships/image" Target="../media/image50.png"/><Relationship Id="rId20" Type="http://schemas.openxmlformats.org/officeDocument/2006/relationships/image" Target="../media/image51.png"/><Relationship Id="rId21" Type="http://schemas.openxmlformats.org/officeDocument/2006/relationships/image" Target="../media/image52.png"/><Relationship Id="rId22" Type="http://schemas.openxmlformats.org/officeDocument/2006/relationships/image" Target="../media/image53.png"/><Relationship Id="rId23" Type="http://schemas.openxmlformats.org/officeDocument/2006/relationships/image" Target="../media/image54.png"/><Relationship Id="rId24" Type="http://schemas.openxmlformats.org/officeDocument/2006/relationships/image" Target="../media/image55.png"/><Relationship Id="rId25" Type="http://schemas.openxmlformats.org/officeDocument/2006/relationships/image" Target="../media/image56.png"/><Relationship Id="rId26" Type="http://schemas.openxmlformats.org/officeDocument/2006/relationships/image" Target="../media/image57.png"/><Relationship Id="rId27" Type="http://schemas.openxmlformats.org/officeDocument/2006/relationships/image" Target="../media/image58.png"/><Relationship Id="rId28" Type="http://schemas.openxmlformats.org/officeDocument/2006/relationships/image" Target="../media/image5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5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619250"/>
            <a:ext cx="6457788" cy="1371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SOC Log Monitoring &amp; Visualization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3562349"/>
            <a:ext cx="6457788" cy="1676400"/>
          </a:xfrm>
          <a:prstGeom prst="roundRect">
            <a:avLst>
              <a:gd name="adj" fmla="val 13636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3784282"/>
            <a:ext cx="228594" cy="1657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28694" y="3752849"/>
            <a:ext cx="168588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A5B4C8"/>
                </a:solidFill>
                <a:latin typeface="Source Sans Pro"/>
                <a:rFonts ascii="Source Sans Pro" hAnsi="Source Sans Pro" eastAsia="Source Sans Pro" cs="Source Sans Pro"/>
              </a:rPr>
              <a:t>Name: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Ahad Shaikh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4146232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28694" y="4105274"/>
            <a:ext cx="189542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A5B4C8"/>
                </a:solidFill>
                <a:latin typeface="Source Sans Pro"/>
                <a:rFonts ascii="Source Sans Pro" hAnsi="Source Sans Pro" eastAsia="Source Sans Pro" cs="Source Sans Pro"/>
              </a:rPr>
              <a:t>Seat No: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31011224057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448341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28694" y="4457700"/>
            <a:ext cx="256216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A5B4C8"/>
                </a:solidFill>
                <a:latin typeface="Source Sans Pro"/>
                <a:rFonts ascii="Source Sans Pro" hAnsi="Source Sans Pro" eastAsia="Source Sans Pro" cs="Source Sans Pro"/>
              </a:rPr>
              <a:t>Subject: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Software Engineering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4845367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8694" y="4810124"/>
            <a:ext cx="111439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A5B4C8"/>
                </a:solidFill>
                <a:latin typeface="Source Sans Pro"/>
                <a:rFonts ascii="Source Sans Pro" hAnsi="Source Sans Pro" eastAsia="Source Sans Pro" cs="Source Sans Pro"/>
              </a:rPr>
              <a:t>Semester: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5512" y="2295525"/>
            <a:ext cx="1914477" cy="1038224"/>
          </a:xfrm>
          <a:prstGeom prst="roundRect">
            <a:avLst>
              <a:gd name="adj" fmla="val 2201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86542" y="2497849"/>
            <a:ext cx="342891" cy="3192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34106" y="2924175"/>
            <a:ext cx="14572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Security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10484" y="2295525"/>
            <a:ext cx="1914477" cy="1038224"/>
          </a:xfrm>
          <a:prstGeom prst="roundRect">
            <a:avLst>
              <a:gd name="adj" fmla="val 2201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401039" y="2545145"/>
            <a:ext cx="342891" cy="2246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7178" y="2924175"/>
            <a:ext cx="138109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Real-time Visibility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5512" y="3524250"/>
            <a:ext cx="1914477" cy="1038224"/>
          </a:xfrm>
          <a:prstGeom prst="roundRect">
            <a:avLst>
              <a:gd name="adj" fmla="val 2201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86542" y="3753178"/>
            <a:ext cx="342891" cy="26604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10324" y="4152899"/>
            <a:ext cx="9048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Log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0484" y="3524250"/>
            <a:ext cx="1914477" cy="1038224"/>
          </a:xfrm>
          <a:prstGeom prst="roundRect">
            <a:avLst>
              <a:gd name="adj" fmla="val 2201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401039" y="3753178"/>
            <a:ext cx="342891" cy="2660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96247" y="4152899"/>
            <a:ext cx="94295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43000"/>
            <a:ext cx="5686282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A </a:t>
            </a:r>
            <a:r>
              <a:rPr sz="119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SOC Log Monitoring &amp; Visualization System</a:t>
            </a: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serves as the central nervous system for modern security operations, providing real-time visibility into organizational security posture.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238375"/>
            <a:ext cx="5686282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A </a:t>
            </a:r>
            <a:r>
              <a:rPr sz="119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centralized security monitoring platform</a:t>
            </a: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designed to support daily SOC operations by collecting, processing, and visualizing logs from diverse digital infrastructure components.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3619499"/>
            <a:ext cx="2752656" cy="904874"/>
          </a:xfrm>
          <a:prstGeom prst="roundRect">
            <a:avLst>
              <a:gd name="adj" fmla="val 2105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3765232"/>
            <a:ext cx="228594" cy="2228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070" y="3762374"/>
            <a:ext cx="2095447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Collects logs from multiple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359" y="3619499"/>
            <a:ext cx="2752656" cy="904874"/>
          </a:xfrm>
          <a:prstGeom prst="roundRect">
            <a:avLst>
              <a:gd name="adj" fmla="val 2105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752756" y="3768090"/>
            <a:ext cx="228594" cy="2171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697" y="3762374"/>
            <a:ext cx="2095447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Normalizes log data for correlation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714875"/>
            <a:ext cx="2752656" cy="904874"/>
          </a:xfrm>
          <a:prstGeom prst="roundRect">
            <a:avLst>
              <a:gd name="adj" fmla="val 2105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488346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1070" y="4857750"/>
            <a:ext cx="2095447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Real-time security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359" y="4714875"/>
            <a:ext cx="2752656" cy="904874"/>
          </a:xfrm>
          <a:prstGeom prst="roundRect">
            <a:avLst>
              <a:gd name="adj" fmla="val 2105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52756" y="4884896"/>
            <a:ext cx="228594" cy="1743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697" y="4857750"/>
            <a:ext cx="205734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Advanced search capabilities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5810249"/>
            <a:ext cx="2752656" cy="666750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5978842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070" y="5953124"/>
            <a:ext cx="194305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Incident investigation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359" y="5810249"/>
            <a:ext cx="2752656" cy="666750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3752756" y="5978842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697" y="5953124"/>
            <a:ext cx="14953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Historical log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8759" y="1143000"/>
            <a:ext cx="4886202" cy="5334000"/>
          </a:xfrm>
          <a:prstGeom prst="roundRect">
            <a:avLst>
              <a:gd name="adj" fmla="val 623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4501" y="1885950"/>
            <a:ext cx="431471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System Architecture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24501" y="2419349"/>
            <a:ext cx="1295367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00739" y="2600653"/>
            <a:ext cx="342891" cy="26604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24541" y="3000375"/>
            <a:ext cx="4952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Servers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8939" y="2419349"/>
            <a:ext cx="1295367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905652" y="2600653"/>
            <a:ext cx="342891" cy="26604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800879" y="3000375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Network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43851" y="2419349"/>
            <a:ext cx="1295367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0420089" y="2612477"/>
            <a:ext cx="342891" cy="2423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258168" y="3000375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Endpoints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24501" y="3524250"/>
            <a:ext cx="3447963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477038" y="3678949"/>
            <a:ext cx="342891" cy="3192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86502" y="4105274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SOC Monitoring System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24501" y="4629150"/>
            <a:ext cx="1295367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400739" y="4831145"/>
            <a:ext cx="342891" cy="22465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153096" y="5210174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Visualization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38939" y="4629150"/>
            <a:ext cx="1295367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905652" y="4804541"/>
            <a:ext cx="342891" cy="27786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896127" y="5210174"/>
            <a:ext cx="3809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Alerts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43851" y="4629150"/>
            <a:ext cx="1295367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0420089" y="4810453"/>
            <a:ext cx="342891" cy="26604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334366" y="5210174"/>
            <a:ext cx="5143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43000"/>
            <a:ext cx="5686282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Modern organizations face </a:t>
            </a:r>
            <a:r>
              <a:rPr sz="119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increasing cyber threats</a:t>
            </a: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with expanding attack surfaces, creating an urgent need for centralized security monitoring.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2143125"/>
            <a:ext cx="568628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Current log monitoring environments present significant challenges: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571750"/>
            <a:ext cx="5686282" cy="457200"/>
          </a:xfrm>
          <a:prstGeom prst="roundRect">
            <a:avLst>
              <a:gd name="adj" fmla="val 41666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81030" y="2713196"/>
            <a:ext cx="228594" cy="174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496" y="2686050"/>
            <a:ext cx="296220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Log data spread across multiple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143250"/>
            <a:ext cx="5686282" cy="457200"/>
          </a:xfrm>
          <a:prstGeom prst="roundRect">
            <a:avLst>
              <a:gd name="adj" fmla="val 41666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00412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496" y="3257550"/>
            <a:ext cx="375275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Different systems generate logs in different formats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714750"/>
            <a:ext cx="5686282" cy="457200"/>
          </a:xfrm>
          <a:prstGeom prst="roundRect">
            <a:avLst>
              <a:gd name="adj" fmla="val 41666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84619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52496" y="3829050"/>
            <a:ext cx="389562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Manual monitoring is time-consuming and inefficient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86250"/>
            <a:ext cx="5686282" cy="457200"/>
          </a:xfrm>
          <a:prstGeom prst="roundRect">
            <a:avLst>
              <a:gd name="adj" fmla="val 41666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1981"/>
            <a:ext cx="228594" cy="1857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2496" y="4400550"/>
            <a:ext cx="392420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Important warning signs buried in large data volumes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857750"/>
            <a:ext cx="5686282" cy="457200"/>
          </a:xfrm>
          <a:prstGeom prst="roundRect">
            <a:avLst>
              <a:gd name="adj" fmla="val 41666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983480"/>
            <a:ext cx="228594" cy="2057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2496" y="4972050"/>
            <a:ext cx="326699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Delayed detection leads to delayed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5429250"/>
            <a:ext cx="5686282" cy="457200"/>
          </a:xfrm>
          <a:prstGeom prst="roundRect">
            <a:avLst>
              <a:gd name="adj" fmla="val 41666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1030" y="5580697"/>
            <a:ext cx="228594" cy="1543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52496" y="5543550"/>
            <a:ext cx="38194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Lack of visualization makes security posture unclear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38759" y="1143000"/>
            <a:ext cx="4886202" cy="5334000"/>
          </a:xfrm>
          <a:prstGeom prst="roundRect">
            <a:avLst>
              <a:gd name="adj" fmla="val 623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24501" y="1904999"/>
            <a:ext cx="431471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Impact of Current Problems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24501" y="2438400"/>
            <a:ext cx="2066873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791255" y="2629228"/>
            <a:ext cx="342891" cy="26604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34086" y="3028950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Missed Alerts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2345" y="2438400"/>
            <a:ext cx="2066873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029574" y="2632184"/>
            <a:ext cx="342891" cy="26013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72385" y="3028950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Slow Investigations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24501" y="3543300"/>
            <a:ext cx="3447963" cy="1057275"/>
          </a:xfrm>
          <a:prstGeom prst="roundRect">
            <a:avLst>
              <a:gd name="adj" fmla="val 14414"/>
            </a:avLst>
          </a:prstGeom>
          <a:solidFill>
            <a:srgbClr val="4DAB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477038" y="3766316"/>
            <a:ext cx="342891" cy="27786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34066" y="4171950"/>
            <a:ext cx="262883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Inconsistent Security Responses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24501" y="4800600"/>
            <a:ext cx="2066873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791255" y="4945774"/>
            <a:ext cx="342891" cy="31925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505512" y="5372100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Weak Defense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72345" y="4800600"/>
            <a:ext cx="2066873" cy="914400"/>
          </a:xfrm>
          <a:prstGeom prst="roundRect">
            <a:avLst>
              <a:gd name="adj" fmla="val 16666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10029574" y="5013762"/>
            <a:ext cx="342891" cy="18327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648583" y="5372100"/>
            <a:ext cx="11143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Poor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43000"/>
            <a:ext cx="10858228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Identifying </a:t>
            </a:r>
            <a:r>
              <a:rPr sz="119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stakeholders</a:t>
            </a: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is crucial in software engineering to ensure requirements align with operational needs and create solutions that deliver real value.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904999"/>
            <a:ext cx="10858228" cy="2324100"/>
          </a:xfrm>
          <a:prstGeom prst="roundRect">
            <a:avLst>
              <a:gd name="adj" fmla="val 9836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33906" y="20954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867253" y="2237642"/>
            <a:ext cx="304792" cy="287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62220" y="2667000"/>
            <a:ext cx="585772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SOC Analysts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2220" y="3000375"/>
            <a:ext cx="585772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A5B4C8"/>
                </a:solidFill>
                <a:latin typeface="Source Sans Pro"/>
                <a:rFonts ascii="Source Sans Pro" hAnsi="Source Sans Pro" eastAsia="Source Sans Pro" cs="Source Sans Pro"/>
              </a:rPr>
              <a:t>L1, L2, L3 Levels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2220" y="3171825"/>
            <a:ext cx="58577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Primary users who monitor, analyze, and investigate security events daily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2220" y="3581400"/>
            <a:ext cx="1666833" cy="304800"/>
          </a:xfrm>
          <a:prstGeom prst="roundRect">
            <a:avLst>
              <a:gd name="adj" fmla="val 125000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2220" y="3581400"/>
            <a:ext cx="166683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Real-time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4301" y="3581400"/>
            <a:ext cx="1104872" cy="304800"/>
          </a:xfrm>
          <a:prstGeom prst="roundRect">
            <a:avLst>
              <a:gd name="adj" fmla="val 125000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4301" y="3581400"/>
            <a:ext cx="110487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Alert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4421" y="3581400"/>
            <a:ext cx="1095347" cy="304800"/>
          </a:xfrm>
          <a:prstGeom prst="roundRect">
            <a:avLst>
              <a:gd name="adj" fmla="val 125000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4421" y="3581400"/>
            <a:ext cx="10953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Log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017" y="3581400"/>
            <a:ext cx="1714457" cy="304800"/>
          </a:xfrm>
          <a:prstGeom prst="roundRect">
            <a:avLst>
              <a:gd name="adj" fmla="val 125000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017" y="3581400"/>
            <a:ext cx="171445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Incident Investigation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467224"/>
            <a:ext cx="3457488" cy="2009774"/>
          </a:xfrm>
          <a:prstGeom prst="roundRect">
            <a:avLst>
              <a:gd name="adj" fmla="val 1137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7228" y="46577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4818099"/>
            <a:ext cx="247643" cy="15550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76338" y="4667249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SOC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6338" y="4952999"/>
            <a:ext cx="120011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A5B4C8"/>
                </a:solidFill>
                <a:latin typeface="Source Sans Pro"/>
                <a:rFonts ascii="Source Sans Pro" hAnsi="Source Sans Pro" eastAsia="Source Sans Pro" cs="Source Sans Pro"/>
              </a:rPr>
              <a:t>Operations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28" y="5248275"/>
            <a:ext cx="307649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975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Oversees daily operations and team performance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5867399"/>
            <a:ext cx="1409664" cy="266699"/>
          </a:xfrm>
          <a:prstGeom prst="roundRect">
            <a:avLst>
              <a:gd name="adj" fmla="val 142857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28" y="5867399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Performance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43091" y="5867399"/>
            <a:ext cx="904852" cy="266699"/>
          </a:xfrm>
          <a:prstGeom prst="roundRect">
            <a:avLst>
              <a:gd name="adj" fmla="val 142857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43091" y="5867399"/>
            <a:ext cx="9048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Compliance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2340" y="4467224"/>
            <a:ext cx="3457488" cy="2009774"/>
          </a:xfrm>
          <a:prstGeom prst="roundRect">
            <a:avLst>
              <a:gd name="adj" fmla="val 1137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52836" y="46577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67133" y="4797941"/>
            <a:ext cx="247643" cy="19581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71945" y="4667249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System Admins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1945" y="4952999"/>
            <a:ext cx="137156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A5B4C8"/>
                </a:solidFill>
                <a:latin typeface="Source Sans Pro"/>
                <a:rFonts ascii="Source Sans Pro" hAnsi="Source Sans Pro" eastAsia="Source Sans Pro" cs="Source Sans Pro"/>
              </a:rPr>
              <a:t>Technical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2836" y="5248275"/>
            <a:ext cx="307649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975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Handles configuration, integration, and maintenance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52836" y="5867399"/>
            <a:ext cx="1019149" cy="266699"/>
          </a:xfrm>
          <a:prstGeom prst="roundRect">
            <a:avLst>
              <a:gd name="adj" fmla="val 142857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2836" y="5867399"/>
            <a:ext cx="10191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Configuration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48183" y="5867399"/>
            <a:ext cx="1266793" cy="266699"/>
          </a:xfrm>
          <a:prstGeom prst="roundRect">
            <a:avLst>
              <a:gd name="adj" fmla="val 142857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48183" y="5867399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User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67473" y="4467224"/>
            <a:ext cx="3457488" cy="2009774"/>
          </a:xfrm>
          <a:prstGeom prst="roundRect">
            <a:avLst>
              <a:gd name="adj" fmla="val 1137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57968" y="46577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72265" y="4780663"/>
            <a:ext cx="247643" cy="23037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877078" y="4667249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IT Security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77078" y="4952999"/>
            <a:ext cx="149538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A5B4C8"/>
                </a:solidFill>
                <a:latin typeface="Source Sans Pro"/>
                <a:rFonts ascii="Source Sans Pro" hAnsi="Source Sans Pro" eastAsia="Source Sans Pro" cs="Source Sans Pro"/>
              </a:rPr>
              <a:t>Incident 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968" y="5248275"/>
            <a:ext cx="3076498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975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Acts on confirmed incidents to remediate threats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57968" y="5867399"/>
            <a:ext cx="962000" cy="266699"/>
          </a:xfrm>
          <a:prstGeom prst="roundRect">
            <a:avLst>
              <a:gd name="adj" fmla="val 142857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57968" y="5867399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Remediation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96167" y="5867399"/>
            <a:ext cx="685782" cy="266699"/>
          </a:xfrm>
          <a:prstGeom prst="roundRect">
            <a:avLst>
              <a:gd name="adj" fmla="val 142857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6167" y="586739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Defense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43000"/>
            <a:ext cx="10858228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Functional requirements</a:t>
            </a: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define what a system must do, serving as the foundation for development and ensuring the final product meets stakeholder needs.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904999"/>
            <a:ext cx="10858228" cy="2752725"/>
          </a:xfrm>
          <a:prstGeom prst="roundRect">
            <a:avLst>
              <a:gd name="adj" fmla="val 8304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29" y="20574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23901" y="2166523"/>
            <a:ext cx="266693" cy="2580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09664" y="2152650"/>
            <a:ext cx="279075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Data Collection &amp; Processing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37279"/>
            <a:ext cx="209544" cy="164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695575"/>
            <a:ext cx="26955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Collect logs from multiple sources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082238"/>
            <a:ext cx="209544" cy="1982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3057525"/>
            <a:ext cx="23145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Support different log formats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3444188"/>
            <a:ext cx="209544" cy="1982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3419474"/>
            <a:ext cx="31717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Normalize log data into standard format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3828792"/>
            <a:ext cx="209544" cy="1529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23921" y="3781424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Secure centralized storage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9129" y="4185079"/>
            <a:ext cx="209544" cy="16424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3921" y="4143375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Real-time log ingestion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829175"/>
            <a:ext cx="3505112" cy="1781174"/>
          </a:xfrm>
          <a:prstGeom prst="roundRect">
            <a:avLst>
              <a:gd name="adj" fmla="val 1283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030" y="4943475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6753" y="5056853"/>
            <a:ext cx="171445" cy="1161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8219" y="5010149"/>
            <a:ext cx="94295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Visualization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81030" y="5445578"/>
            <a:ext cx="152396" cy="1197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9624" y="5410199"/>
            <a:ext cx="145728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Interactive dashboards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81030" y="5712278"/>
            <a:ext cx="152396" cy="11974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9624" y="5676900"/>
            <a:ext cx="162873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Dashboard customization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81030" y="5999389"/>
            <a:ext cx="152396" cy="979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9624" y="5953124"/>
            <a:ext cx="151443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Security metrics display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291" y="4829175"/>
            <a:ext cx="3505112" cy="1781174"/>
          </a:xfrm>
          <a:prstGeom prst="roundRect">
            <a:avLst>
              <a:gd name="adj" fmla="val 1283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57588" y="4943475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543311" y="5047174"/>
            <a:ext cx="171445" cy="135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14777" y="5010149"/>
            <a:ext cx="6000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Analysis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457588" y="5440135"/>
            <a:ext cx="152396" cy="1306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686182" y="5410199"/>
            <a:ext cx="133346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Search and filter logs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457588" y="5723164"/>
            <a:ext cx="152396" cy="9797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686182" y="5676900"/>
            <a:ext cx="96200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Log correlation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4457588" y="6004832"/>
            <a:ext cx="152396" cy="870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686182" y="5953124"/>
            <a:ext cx="129536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Time-based analysis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4457588" y="6248400"/>
            <a:ext cx="152396" cy="13334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686182" y="6219825"/>
            <a:ext cx="133346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Event-based analysis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19849" y="4829175"/>
            <a:ext cx="3505112" cy="1781174"/>
          </a:xfrm>
          <a:prstGeom prst="roundRect">
            <a:avLst>
              <a:gd name="adj" fmla="val 1283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34146" y="4943475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219869" y="5043026"/>
            <a:ext cx="171445" cy="14379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591335" y="5010149"/>
            <a:ext cx="58101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Alerting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8134146" y="5440135"/>
            <a:ext cx="152396" cy="1306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362740" y="5410199"/>
            <a:ext cx="243833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Generate alerts for suspicious patterns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8134146" y="5706835"/>
            <a:ext cx="152396" cy="1306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62740" y="5676900"/>
            <a:ext cx="148586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Add investigation notes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8134146" y="5983060"/>
            <a:ext cx="152396" cy="1306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362740" y="5953124"/>
            <a:ext cx="102867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Incident tagging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6733" y="6781799"/>
            <a:ext cx="3505112" cy="1895474"/>
          </a:xfrm>
          <a:prstGeom prst="roundRect">
            <a:avLst>
              <a:gd name="adj" fmla="val 1206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9129" y="6934200"/>
            <a:ext cx="419089" cy="419100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>
            <a:off x="923901" y="7061629"/>
            <a:ext cx="209544" cy="16424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352516" y="7019925"/>
            <a:ext cx="121916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Administration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>
            <a:off x="819129" y="7553632"/>
            <a:ext cx="171445" cy="13273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85822" y="7515225"/>
            <a:ext cx="184780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Role-based access control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>
            <a:off x="819129" y="7884241"/>
            <a:ext cx="171445" cy="13826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85822" y="7848599"/>
            <a:ext cx="202877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Audit logging of user actions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>
            <a:off x="819129" y="8206555"/>
            <a:ext cx="171445" cy="16038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85822" y="8181974"/>
            <a:ext cx="174303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System security features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43291" y="6781799"/>
            <a:ext cx="3505112" cy="1895474"/>
          </a:xfrm>
          <a:prstGeom prst="roundRect">
            <a:avLst>
              <a:gd name="adj" fmla="val 1206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495687" y="6934200"/>
            <a:ext cx="419089" cy="419100"/>
          </a:xfrm>
          <a:prstGeom prst="roundRect">
            <a:avLst>
              <a:gd name="adj" fmla="val 50000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5">
            <a:alphaModFix amt="100000"/>
          </a:blip>
          <a:stretch>
            <a:fillRect/>
          </a:stretch>
        </p:blipFill>
        <p:spPr>
          <a:xfrm>
            <a:off x="4600459" y="7064460"/>
            <a:ext cx="209544" cy="15857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029074" y="7019925"/>
            <a:ext cx="81912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Reporting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6">
            <a:alphaModFix amt="100000"/>
          </a:blip>
          <a:stretch>
            <a:fillRect/>
          </a:stretch>
        </p:blipFill>
        <p:spPr>
          <a:xfrm>
            <a:off x="4495687" y="7550866"/>
            <a:ext cx="171445" cy="13826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762380" y="7515225"/>
            <a:ext cx="182875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Generate incident reports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7">
            <a:alphaModFix amt="100000"/>
          </a:blip>
          <a:stretch>
            <a:fillRect/>
          </a:stretch>
        </p:blipFill>
        <p:spPr>
          <a:xfrm>
            <a:off x="4495687" y="7884241"/>
            <a:ext cx="171445" cy="13826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4762380" y="7848599"/>
            <a:ext cx="108582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Activity reports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8">
            <a:alphaModFix amt="100000"/>
          </a:blip>
          <a:stretch>
            <a:fillRect/>
          </a:stretch>
        </p:blipFill>
        <p:spPr>
          <a:xfrm>
            <a:off x="4620161" y="8201025"/>
            <a:ext cx="779725" cy="17145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619609" y="8181974"/>
            <a:ext cx="165730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Export logs and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43000"/>
            <a:ext cx="5686282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Conclusions in software engineering </a:t>
            </a:r>
            <a:r>
              <a:rPr sz="1196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summarize key findings</a:t>
            </a:r>
            <a:r>
              <a:rPr sz="1196" b="0">
                <a:solidFill>
                  <a:srgbClr val="E9ECEF"/>
                </a:solidFill>
                <a:latin typeface="Source Sans Pro"/>
                <a:rFonts ascii="Source Sans Pro" hAnsi="Source Sans Pro" eastAsia="Source Sans Pro" cs="Source Sans Pro"/>
              </a:rPr>
              <a:t> and provide stakeholders with a clear understanding of project outcomes and next steps.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2238375"/>
            <a:ext cx="5686282" cy="533399"/>
          </a:xfrm>
          <a:prstGeom prst="roundRect">
            <a:avLst>
              <a:gd name="adj" fmla="val 3571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9604" y="2403157"/>
            <a:ext cx="228594" cy="2228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1070" y="2381250"/>
            <a:ext cx="394325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Centralizes log monitoring across diverse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914650"/>
            <a:ext cx="5686282" cy="533399"/>
          </a:xfrm>
          <a:prstGeom prst="roundRect">
            <a:avLst>
              <a:gd name="adj" fmla="val 3571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3113722"/>
            <a:ext cx="228594" cy="154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070" y="3057525"/>
            <a:ext cx="35717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Provides essential visibility for security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590924"/>
            <a:ext cx="5686282" cy="533399"/>
          </a:xfrm>
          <a:prstGeom prst="roundRect">
            <a:avLst>
              <a:gd name="adj" fmla="val 3571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3785711"/>
            <a:ext cx="228594" cy="16287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070" y="3733799"/>
            <a:ext cx="352416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Enables efficient incident detection and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267199"/>
            <a:ext cx="5686282" cy="533399"/>
          </a:xfrm>
          <a:prstGeom prst="roundRect">
            <a:avLst>
              <a:gd name="adj" fmla="val 35714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4480559"/>
            <a:ext cx="228594" cy="12572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1070" y="4410074"/>
            <a:ext cx="38003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Serves diverse stakeholder needs across organization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5781674"/>
            <a:ext cx="5686282" cy="819149"/>
          </a:xfrm>
          <a:prstGeom prst="roundRect">
            <a:avLst>
              <a:gd name="adj" fmla="val 27906"/>
            </a:avLst>
          </a:prstGeom>
          <a:solidFill>
            <a:srgbClr val="4DABF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8179" y="6118777"/>
            <a:ext cx="266693" cy="1449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47743" y="5953124"/>
            <a:ext cx="4933826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This system forms a solid foundation for strengthening organizational cybersecurity posture and operational resilience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8759" y="1143000"/>
            <a:ext cx="4886202" cy="5457825"/>
          </a:xfrm>
          <a:prstGeom prst="roundRect">
            <a:avLst>
              <a:gd name="adj" fmla="val 623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4501" y="1428750"/>
            <a:ext cx="431471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4DABF7"/>
                </a:solidFill>
                <a:latin typeface="Source Sans Pro"/>
                <a:rFonts ascii="Source Sans Pro" hAnsi="Source Sans Pro" eastAsia="Source Sans Pro" cs="Source Sans Pro"/>
              </a:rPr>
              <a:t>System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3116" y="1962149"/>
            <a:ext cx="3447963" cy="1143000"/>
          </a:xfrm>
          <a:prstGeom prst="roundRect">
            <a:avLst>
              <a:gd name="adj" fmla="val 13333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886602" y="2164556"/>
            <a:ext cx="380990" cy="35718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15117" y="2676524"/>
            <a:ext cx="152396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Enhanced Security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43571" y="3295650"/>
            <a:ext cx="3886102" cy="1685925"/>
          </a:xfrm>
          <a:prstGeom prst="roundRect">
            <a:avLst>
              <a:gd name="adj" fmla="val 9039"/>
            </a:avLst>
          </a:prstGeom>
          <a:solidFill>
            <a:srgbClr val="4DAB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838979" y="3551860"/>
            <a:ext cx="476238" cy="44007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81690" y="4152899"/>
            <a:ext cx="3409864" cy="5905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Strengthened Cybersecurity Posture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3116" y="5172075"/>
            <a:ext cx="3447963" cy="1143000"/>
          </a:xfrm>
          <a:prstGeom prst="roundRect">
            <a:avLst>
              <a:gd name="adj" fmla="val 13333"/>
            </a:avLst>
          </a:prstGeom>
          <a:solidFill>
            <a:srgbClr val="4DAB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886602" y="5413176"/>
            <a:ext cx="380990" cy="2797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00799" y="5886450"/>
            <a:ext cx="216212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Improved Decision 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